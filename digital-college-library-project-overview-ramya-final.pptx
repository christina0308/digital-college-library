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4e3156524c4808" /><Relationship Type="http://schemas.openxmlformats.org/officeDocument/2006/relationships/extended-properties" Target="/docProps/app.xml" Id="Rf6be4fad6497451a" /><Relationship Type="http://schemas.openxmlformats.org/officeDocument/2006/relationships/officeDocument" Target="/ppt/presentation.xml" Id="R5eb99b0ab9df49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9b006daa4848e7"/>
  </p:sldMasterIdLst>
  <p:notesMasterIdLst>
    <p:notesMasterId xmlns:r="http://schemas.openxmlformats.org/officeDocument/2006/relationships" r:id="Rb8919bbf004840b6"/>
  </p:notesMasterIdLst>
  <p:sldIdLst>
    <p:sldId xmlns:r="http://schemas.openxmlformats.org/officeDocument/2006/relationships" id="256" r:id="R769a8b2f24684dbe"/>
    <p:sldId xmlns:r="http://schemas.openxmlformats.org/officeDocument/2006/relationships" id="257" r:id="Rdd8c84d60887433b"/>
    <p:sldId xmlns:r="http://schemas.openxmlformats.org/officeDocument/2006/relationships" id="258" r:id="Rb563e041be094b34"/>
    <p:sldId xmlns:r="http://schemas.openxmlformats.org/officeDocument/2006/relationships" id="259" r:id="R6d2b5f09219044e3"/>
    <p:sldId xmlns:r="http://schemas.openxmlformats.org/officeDocument/2006/relationships" id="260" r:id="R882bd36b900e42fa"/>
    <p:sldId xmlns:r="http://schemas.openxmlformats.org/officeDocument/2006/relationships" id="261" r:id="Ra8ff443bee194ab0"/>
    <p:sldId xmlns:r="http://schemas.openxmlformats.org/officeDocument/2006/relationships" id="262" r:id="Rfd4acdebb1dd48ac"/>
    <p:sldId xmlns:r="http://schemas.openxmlformats.org/officeDocument/2006/relationships" id="263" r:id="R7dfdcc4220114f96"/>
    <p:sldId xmlns:r="http://schemas.openxmlformats.org/officeDocument/2006/relationships" id="264" r:id="R2646be24a3024afa"/>
    <p:sldId xmlns:r="http://schemas.openxmlformats.org/officeDocument/2006/relationships" id="265" r:id="Rcc4d4564ad4f4562"/>
    <p:sldId xmlns:r="http://schemas.openxmlformats.org/officeDocument/2006/relationships" id="266" r:id="R0c5ba1ab54dc40f5"/>
    <p:sldId xmlns:r="http://schemas.openxmlformats.org/officeDocument/2006/relationships" id="267" r:id="Rc68fe370f02a47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d26cdaa8214a91" /><Relationship Type="http://schemas.openxmlformats.org/officeDocument/2006/relationships/slideMaster" Target="/ppt/slideMasters/slideMaster1.xml" Id="R1c9b006daa4848e7" /><Relationship Type="http://schemas.openxmlformats.org/officeDocument/2006/relationships/notesMaster" Target="/ppt/notesMasters/notesMaster1.xml" Id="Rb8919bbf004840b6" /><Relationship Type="http://schemas.openxmlformats.org/officeDocument/2006/relationships/presProps" Target="/ppt/presProps.xml" Id="R704676e13d8448ce" /><Relationship Type="http://schemas.openxmlformats.org/officeDocument/2006/relationships/tableStyles" Target="/ppt/tableStyles.xml" Id="R1ed63ddd315047f0" /><Relationship Type="http://schemas.openxmlformats.org/officeDocument/2006/relationships/slide" Target="/ppt/slides/slide1.xml" Id="R769a8b2f24684dbe" /><Relationship Type="http://schemas.openxmlformats.org/officeDocument/2006/relationships/slide" Target="/ppt/slides/slide2.xml" Id="Rdd8c84d60887433b" /><Relationship Type="http://schemas.openxmlformats.org/officeDocument/2006/relationships/slide" Target="/ppt/slides/slide3.xml" Id="Rb563e041be094b34" /><Relationship Type="http://schemas.openxmlformats.org/officeDocument/2006/relationships/slide" Target="/ppt/slides/slide4.xml" Id="R6d2b5f09219044e3" /><Relationship Type="http://schemas.openxmlformats.org/officeDocument/2006/relationships/slide" Target="/ppt/slides/slide5.xml" Id="R882bd36b900e42fa" /><Relationship Type="http://schemas.openxmlformats.org/officeDocument/2006/relationships/slide" Target="/ppt/slides/slide6.xml" Id="Ra8ff443bee194ab0" /><Relationship Type="http://schemas.openxmlformats.org/officeDocument/2006/relationships/slide" Target="/ppt/slides/slide7.xml" Id="Rfd4acdebb1dd48ac" /><Relationship Type="http://schemas.openxmlformats.org/officeDocument/2006/relationships/slide" Target="/ppt/slides/slide8.xml" Id="R7dfdcc4220114f96" /><Relationship Type="http://schemas.openxmlformats.org/officeDocument/2006/relationships/slide" Target="/ppt/slides/slide9.xml" Id="R2646be24a3024afa" /><Relationship Type="http://schemas.openxmlformats.org/officeDocument/2006/relationships/slide" Target="/ppt/slides/slide10.xml" Id="Rcc4d4564ad4f4562" /><Relationship Type="http://schemas.openxmlformats.org/officeDocument/2006/relationships/slide" Target="/ppt/slides/slide11.xml" Id="R0c5ba1ab54dc40f5" /><Relationship Type="http://schemas.openxmlformats.org/officeDocument/2006/relationships/slide" Target="/ppt/slides/slide12.xml" Id="Rc68fe370f02a47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f07c075a6442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c571e4206f4e60" /><Relationship Type="http://schemas.openxmlformats.org/officeDocument/2006/relationships/notesMaster" Target="/ppt/notesMasters/notesMaster1.xml" Id="R0bf6c23f0a5943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ac1c03dc414de6" /><Relationship Type="http://schemas.openxmlformats.org/officeDocument/2006/relationships/notesMaster" Target="/ppt/notesMasters/notesMaster1.xml" Id="Rcadf21d8f8524f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6bed784eeb48b0" /><Relationship Type="http://schemas.openxmlformats.org/officeDocument/2006/relationships/notesMaster" Target="/ppt/notesMasters/notesMaster1.xml" Id="Re0d6edf68cf749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5532018e954bb8" /><Relationship Type="http://schemas.openxmlformats.org/officeDocument/2006/relationships/notesMaster" Target="/ppt/notesMasters/notesMaster1.xml" Id="R399bf8ddf7f946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ce89d0927b47d8" /><Relationship Type="http://schemas.openxmlformats.org/officeDocument/2006/relationships/notesMaster" Target="/ppt/notesMasters/notesMaster1.xml" Id="Ra7f8164e14b849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aa6877ec3f486a" /><Relationship Type="http://schemas.openxmlformats.org/officeDocument/2006/relationships/notesMaster" Target="/ppt/notesMasters/notesMaster1.xml" Id="Re29b60a2fb2647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8881f3c5104add" /><Relationship Type="http://schemas.openxmlformats.org/officeDocument/2006/relationships/notesMaster" Target="/ppt/notesMasters/notesMaster1.xml" Id="R0d58a7b404a347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9f80d0d9d04a73" /><Relationship Type="http://schemas.openxmlformats.org/officeDocument/2006/relationships/notesMaster" Target="/ppt/notesMasters/notesMaster1.xml" Id="Rc00b8f5b76ce4d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ccea0f49104d93" /><Relationship Type="http://schemas.openxmlformats.org/officeDocument/2006/relationships/notesMaster" Target="/ppt/notesMasters/notesMaster1.xml" Id="R7bda66397f2e4f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f567cedde64871" /><Relationship Type="http://schemas.openxmlformats.org/officeDocument/2006/relationships/notesMaster" Target="/ppt/notesMasters/notesMaster1.xml" Id="Rd60397014c6342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f3869403274bd9" /><Relationship Type="http://schemas.openxmlformats.org/officeDocument/2006/relationships/notesMaster" Target="/ppt/notesMasters/notesMaster1.xml" Id="Rc6b4ad36afe049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5c32f49f8649b0" /><Relationship Type="http://schemas.openxmlformats.org/officeDocument/2006/relationships/notesMaster" Target="/ppt/notesMasters/notesMaster1.xml" Id="R862f47a6499d49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site: https://digital-libarys.netlify.app/</a:t>
            </a:r>
          </a:p>
          <a:p xmlns:a="http://schemas.openxmlformats.org/drawingml/2006/main">
            <a:r>
              <a:t>Book cover images shown on the site, sourced from Open Library: https://covers.openlibrary.org/b/isbn/9780553380163-M.jpg ; https://covers.openlibrary.org/b/isbn/9780470458365-M.jpg ; https://covers.openlibrary.org/b/isbn/9780735211292-M.jpg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site: https://digital-libarys.netlify.app/</a:t>
            </a:r>
          </a:p>
          <a:p xmlns:a="http://schemas.openxmlformats.org/drawingml/2006/main">
            <a:r>
              <a:t>The public page shows title/author/ISBN search, subject browsing, availability filters, copy details, student sign-in, and 24-hour holds.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follows the project statement supplied by the project owner.</a:t>
            </a:r>
          </a:p>
          <a:p xmlns:a="http://schemas.openxmlformats.org/drawingml/2006/main">
            <a:r>
              <a:t>The site used for product context is https://digital-libarys.netlify.app/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workflow and service details: https://digital-libarys.netlify.app/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site: https://digital-libarys.netlify.app/</a:t>
            </a:r>
          </a:p>
          <a:p xmlns:a="http://schemas.openxmlformats.org/drawingml/2006/main">
            <a:r>
              <a:t>Catalog data: https://digital-libarys.netlify.app/api/books</a:t>
            </a:r>
          </a:p>
          <a:p xmlns:a="http://schemas.openxmlformats.org/drawingml/2006/main">
            <a:r>
              <a:t>Book cover images shown on the site, sourced from Open Library: https://covers.openlibrary.org/b/isbn/9780132350884-M.jpg ; https://covers.openlibrary.org/b/isbn/9780262046305-M.jpg ; https://covers.openlibrary.org/b/isbn/9780525559474-M.jpg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Roles and advertised responsibilities are described on https://digital-libarys.netlify.app/ under the library workflow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site: https://digital-libarys.netlify.app/</a:t>
            </a:r>
          </a:p>
          <a:p xmlns:a="http://schemas.openxmlformats.org/drawingml/2006/main">
            <a:r>
              <a:t>Next.js asset paths are visible in the deployed page, for example https://digital-libarys.netlify.app/_next/static/chunks/0dgq26a5_oy.a.js</a:t>
            </a:r>
          </a:p>
          <a:p xmlns:a="http://schemas.openxmlformats.org/drawingml/2006/main">
            <a:r>
              <a:t>Catalog endpoint: https://digital-libarys.netlify.app/api/books</a:t>
            </a:r>
          </a:p>
          <a:p xmlns:a="http://schemas.openxmlformats.org/drawingml/2006/main">
            <a:r>
              <a:t>Example cover URL pattern from the catalog: https://covers.openlibrary.org/b/isbn/9780553380163-M.jpg</a:t>
            </a:r>
          </a:p>
          <a:p xmlns:a="http://schemas.openxmlformats.org/drawingml/2006/main">
            <a:r>
              <a:t>The deployed public site does not identify the backing database or identity provider. Next.js is inferred from its public asset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workflow and 24-hour reservation details: https://digital-libarys.netlify.app/</a:t>
            </a:r>
          </a:p>
          <a:p xmlns:a="http://schemas.openxmlformats.org/drawingml/2006/main">
            <a:r>
              <a:t>Catalog records: https://digital-libarys.netlify.app/api/books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Catalog fields and copy counts are visible at https://digital-libarys.netlify.app/api/books</a:t>
            </a:r>
          </a:p>
          <a:p xmlns:a="http://schemas.openxmlformats.org/drawingml/2006/main">
            <a:r>
              <a:t>Per-copy shelf and rack fields, hold behavior and user roles are described on https://digital-libarys.netlify.app/</a:t>
            </a:r>
          </a:p>
          <a:p xmlns:a="http://schemas.openxmlformats.org/drawingml/2006/main">
            <a:r>
              <a:t>This is a conceptual data model inferred from the public features. The public deployment does not reveal its database technology or private user/reservation storage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Catalog snapshot collected from https://digital-libarys.netlify.app/api/books on 27 October 2026.</a:t>
            </a:r>
          </a:p>
          <a:p xmlns:a="http://schemas.openxmlformats.org/drawingml/2006/main">
            <a:r>
              <a:t>Computed from the public response: 25 titles, 59 total copies, 52 available, 5 reserved, 2 borrowed, and 11 distinct categories. Counts can change over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project reference: https://digital-libarys.netlify.app/</a:t>
            </a:r>
          </a:p>
          <a:p xmlns:a="http://schemas.openxmlformats.org/drawingml/2006/main">
            <a:r>
              <a:t>The deployed catalog endpoint is https://digital-libarys.netlify.app/api/books. Private account and circulation data are not exposed through this endpoint.</a:t>
            </a:r>
          </a:p>
          <a:p xmlns:a="http://schemas.openxmlformats.org/drawingml/2006/main">
            <a:r>
              <a:t>Future scope items are recommendations based on the visible product workflow, not claims about existing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site: https://digital-libarys.netlify.app/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edc3cfc0b4f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434d313f34e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20b6572d84a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1669e294643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5c6aae4c64f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bde6d63f84c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71623C-A696-463E-97DA-A79A47FE54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91B472-AD9E-4CCC-AEFD-403D9BF943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5A6ADFB-D640-4CEB-AC83-46930A8C19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1A0008-62B6-4885-9C9B-0C9A968F1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A99CE2-A397-416F-83B3-B2EC377344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C9452F-B296-475C-BD86-41AA196DA6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3E2863-F2D8-4950-88CB-97F55E2D80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F575B1-EA9C-489B-BE04-11D839E4C1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6BB80B-0E7E-44F0-97FD-59DD31333F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B0E88E-08F6-4A51-AB29-C5229E5E99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2630c7b66b43c1" /><Relationship Type="http://schemas.openxmlformats.org/officeDocument/2006/relationships/slideLayout" Target="/ppt/slideLayouts/slideLayout1.xml" Id="R885a6022faa64788" /><Relationship Type="http://schemas.openxmlformats.org/officeDocument/2006/relationships/slideLayout" Target="/ppt/slideLayouts/slideLayout2.xml" Id="Raa71fe2f6f324ff7" /><Relationship Type="http://schemas.openxmlformats.org/officeDocument/2006/relationships/slideLayout" Target="/ppt/slideLayouts/slideLayout3.xml" Id="R6e811fd86a25486a" /><Relationship Type="http://schemas.openxmlformats.org/officeDocument/2006/relationships/slideLayout" Target="/ppt/slideLayouts/slideLayout4.xml" Id="R02c59149cb254b5b" /><Relationship Type="http://schemas.openxmlformats.org/officeDocument/2006/relationships/slideLayout" Target="/ppt/slideLayouts/slideLayout5.xml" Id="Ra06f670405544d7e" /><Relationship Type="http://schemas.openxmlformats.org/officeDocument/2006/relationships/slideLayout" Target="/ppt/slideLayouts/slideLayout6.xml" Id="R8c490d90158c49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5a6022faa64788"/>
    <p:sldLayoutId xmlns:r="http://schemas.openxmlformats.org/officeDocument/2006/relationships" id="2147483650" r:id="Raa71fe2f6f324ff7"/>
    <p:sldLayoutId xmlns:r="http://schemas.openxmlformats.org/officeDocument/2006/relationships" id="2147483651" r:id="R6e811fd86a25486a"/>
    <p:sldLayoutId xmlns:r="http://schemas.openxmlformats.org/officeDocument/2006/relationships" id="2147483652" r:id="R02c59149cb254b5b"/>
    <p:sldLayoutId xmlns:r="http://schemas.openxmlformats.org/officeDocument/2006/relationships" id="2147483653" r:id="Ra06f670405544d7e"/>
    <p:sldLayoutId xmlns:r="http://schemas.openxmlformats.org/officeDocument/2006/relationships" id="2147483654" r:id="R8c490d90158c49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efe36195ff400d" /><Relationship Type="http://schemas.openxmlformats.org/officeDocument/2006/relationships/image" Target="/ppt/media/image.jpeg" Id="Rb8a797763ce24244" /><Relationship Type="http://schemas.openxmlformats.org/officeDocument/2006/relationships/image" Target="/ppt/media/image2.jpeg" Id="R68b41c7755ce4fb7" /><Relationship Type="http://schemas.openxmlformats.org/officeDocument/2006/relationships/image" Target="/ppt/media/image3.jpeg" Id="Rbafd8a7f472f44bf" /><Relationship Type="http://schemas.openxmlformats.org/officeDocument/2006/relationships/notesSlide" Target="/ppt/notesSlides/notesSlide1.xml" Id="R3e07f899968747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beb14840345b7" /><Relationship Type="http://schemas.openxmlformats.org/officeDocument/2006/relationships/notesSlide" Target="/ppt/notesSlides/notesSlide2.xml" Id="Ra18ecb6691ad47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dd6efbbb93436c" /><Relationship Type="http://schemas.openxmlformats.org/officeDocument/2006/relationships/notesSlide" Target="/ppt/notesSlides/notesSlide3.xml" Id="Re85d49d39af144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3e5a7ba3ab4665" /><Relationship Type="http://schemas.openxmlformats.org/officeDocument/2006/relationships/notesSlide" Target="/ppt/notesSlides/notesSlide4.xml" Id="Rdf04dacfc5d543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bc3386a3f4087" /><Relationship Type="http://schemas.openxmlformats.org/officeDocument/2006/relationships/image" Target="/ppt/media/image4.jpeg" Id="R3a9b03514c51470b" /><Relationship Type="http://schemas.openxmlformats.org/officeDocument/2006/relationships/image" Target="/ppt/media/image5.jpeg" Id="R32309417214747b4" /><Relationship Type="http://schemas.openxmlformats.org/officeDocument/2006/relationships/image" Target="/ppt/media/image6.jpeg" Id="R24775d32ded84ae0" /><Relationship Type="http://schemas.openxmlformats.org/officeDocument/2006/relationships/notesSlide" Target="/ppt/notesSlides/notesSlide5.xml" Id="R43ae53f28eda48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cff67e8c6d4a75" /><Relationship Type="http://schemas.openxmlformats.org/officeDocument/2006/relationships/notesSlide" Target="/ppt/notesSlides/notesSlide6.xml" Id="Rd9a326e072714f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795526f8f4a6d" /><Relationship Type="http://schemas.openxmlformats.org/officeDocument/2006/relationships/notesSlide" Target="/ppt/notesSlides/notesSlide7.xml" Id="R9369054a0af740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bdb7f42821497e" /><Relationship Type="http://schemas.openxmlformats.org/officeDocument/2006/relationships/notesSlide" Target="/ppt/notesSlides/notesSlide8.xml" Id="R129a9036288346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d64926f94e4742" /><Relationship Type="http://schemas.openxmlformats.org/officeDocument/2006/relationships/notesSlide" Target="/ppt/notesSlides/notesSlide9.xml" Id="Raa35b61b08ae44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62d4bc5fe4df8" /><Relationship Type="http://schemas.openxmlformats.org/officeDocument/2006/relationships/notesSlide" Target="/ppt/notesSlides/notesSlide10.xml" Id="Raf9b692974c545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cb62d7df79472c" /><Relationship Type="http://schemas.openxmlformats.org/officeDocument/2006/relationships/notesSlide" Target="/ppt/notesSlides/notesSlide11.xml" Id="R280204b019824e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3b7248002b4f6e" /><Relationship Type="http://schemas.openxmlformats.org/officeDocument/2006/relationships/notesSlide" Target="/ppt/notesSlides/notesSlide12.xml" Id="Raaa59e44dce644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2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A455202-C26A-4BCE-9DB1-6FCC399B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D7B4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 i="0">
                <a:solidFill>
                  <a:srgbClr val="D7B4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 i="0">
                <a:solidFill>
                  <a:srgbClr val="D7B4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 i="0">
                <a:solidFill>
                  <a:srgbClr val="D7B4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 i="0">
                <a:solidFill>
                  <a:srgbClr val="D7B4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 i="0">
                <a:solidFill>
                  <a:srgbClr val="D7B4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 i="0">
                <a:solidFill>
                  <a:srgbClr val="D7B4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 i="0">
                <a:solidFill>
                  <a:srgbClr val="D7B4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 i="0">
                <a:solidFill>
                  <a:srgbClr val="D7B4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 i="0">
                <a:solidFill>
                  <a:srgbClr val="D7B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D7B4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B45A"/>
                </a:solidFill>
                <a:latin typeface="Arial"/>
                <a:ea typeface="Arial"/>
                <a:cs typeface="Arial"/>
              </a:rPr>
              <a:t>PROJECT OVERVIEW / MIT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2BDDC3D-9EBE-48AD-8D1B-97AFDF55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810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025" b="1" i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5025" b="1" i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5025" b="1" i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5025" b="1" i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5025" b="1" i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5025" b="1" i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5025" b="1" i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5025" b="1" i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5025" b="1" i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5025" b="1" i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5025" b="1" i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pPr>
            <a:r>
              <a:rPr sz="5025" b="1" i="0">
                <a:solidFill>
                  <a:srgbClr val="F8F4EA"/>
                </a:solidFill>
                <a:latin typeface="Georgia"/>
                <a:ea typeface="Georgia"/>
                <a:cs typeface="Georgia"/>
              </a:rPr>
              <a:t>Digital College</a:t>
            </a:r>
          </a:p>
          <a:p xmlns:a="http://schemas.openxmlformats.org/drawingml/2006/main">
            <a:pPr algn="l">
              <a:buNone/>
              <a:defRPr sz="5025" b="1" i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pPr>
            <a:r>
              <a:rPr sz="5025" b="1" i="0">
                <a:solidFill>
                  <a:srgbClr val="F8F4EA"/>
                </a:solidFill>
                <a:latin typeface="Georgia"/>
                <a:ea typeface="Georgia"/>
                <a:cs typeface="Georgia"/>
              </a:rPr>
              <a:t>Library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38FCA1B-5DF7-448D-B3B0-7EF78796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542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8F4EA"/>
                </a:solidFill>
                <a:latin typeface="Arial"/>
                <a:ea typeface="Arial"/>
                <a:cs typeface="Arial"/>
              </a:rPr>
              <a:t>A campus catalog that connects book discovery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8F4EA"/>
                </a:solidFill>
                <a:latin typeface="Arial"/>
                <a:ea typeface="Arial"/>
                <a:cs typeface="Arial"/>
              </a:rPr>
              <a:t>to the shelf where a copy waits.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739CA-3FDE-496C-A978-FF46FC54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E4D19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 i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 i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 i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 i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 i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 i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 i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 i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 i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E4D19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4D19B"/>
                </a:solidFill>
                <a:latin typeface="Arial"/>
                <a:ea typeface="Arial"/>
                <a:cs typeface="Arial"/>
              </a:rPr>
              <a:t>DISCOVER / READ / INTERACT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90947-9550-4E91-A3C8-B5D510F3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B1930-9613-4DDB-B9F1-D2FD2602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F8F4E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8F4EA"/>
                </a:solidFill>
                <a:latin typeface="Arial"/>
                <a:ea typeface="Arial"/>
                <a:cs typeface="Arial"/>
              </a:rPr>
              <a:t>digital-libarys.netlify.app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0BD4F-FA6A-4E7A-ACF2-19A79D1BCE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797763ce24244"/>
          <a:stretch xmlns:a="http://schemas.openxmlformats.org/drawingml/2006/main"/>
        </p:blipFill>
        <p:spPr>
          <a:xfrm xmlns:a="http://schemas.openxmlformats.org/drawingml/2006/main">
            <a:off x="7048500" y="1959716"/>
            <a:ext cx="1504950" cy="229086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34C0A-B7AF-4CE3-83AE-A47A6B4563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41c7755ce4fb7"/>
          <a:stretch xmlns:a="http://schemas.openxmlformats.org/drawingml/2006/main"/>
        </p:blipFill>
        <p:spPr>
          <a:xfrm xmlns:a="http://schemas.openxmlformats.org/drawingml/2006/main">
            <a:off x="8715375" y="1724025"/>
            <a:ext cx="1524000" cy="19050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E5D02-07E8-4B20-9972-3FA3F7CF02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d8a7f472f44bf"/>
          <a:stretch xmlns:a="http://schemas.openxmlformats.org/drawingml/2006/main"/>
        </p:blipFill>
        <p:spPr>
          <a:xfrm xmlns:a="http://schemas.openxmlformats.org/drawingml/2006/main">
            <a:off x="10382250" y="2096294"/>
            <a:ext cx="1428750" cy="2151063"/>
          </a:xfrm>
          <a:prstGeom xmlns:a="http://schemas.openxmlformats.org/drawingml/2006/main" prst="rect">
            <a:avLst/>
          </a:prstGeom>
        </p:spPr>
      </p:pic>
      <p:sp>
        <p:nvSpPr>
          <p:cNvPr id="11" name="presenter-name">
            <a:extLst xmlns:a="http://schemas.openxmlformats.org/drawingml/2006/main">
              <a:ext uri="{FF2B5EF4-FFF2-40B4-BE49-F238E27FC236}">
                <a16:creationId xmlns:a16="http://schemas.microsoft.com/office/drawing/2014/main" id="{7D821631-BBBA-4E39-A522-ED76E41A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4EA"/>
                </a:solidFill>
                <a:latin typeface="Arial"/>
                <a:ea typeface="Arial"/>
                <a:cs typeface="Arial"/>
              </a:rPr>
              <a:t>Presented by K. Ramya</a:t>
            </a:r>
          </a:p>
        </p:txBody>
      </p:sp>
      <p:sp>
        <p:nvSpPr>
          <p:cNvPr id="12" name="presenter-register-number">
            <a:extLst xmlns:a="http://schemas.openxmlformats.org/drawingml/2006/main">
              <a:ext uri="{FF2B5EF4-FFF2-40B4-BE49-F238E27FC236}">
                <a16:creationId xmlns:a16="http://schemas.microsoft.com/office/drawing/2014/main" id="{BA56B145-88C3-4C48-81DA-EC4001E6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4D19B"/>
                </a:solidFill>
                <a:latin typeface="Arial"/>
                <a:ea typeface="Arial"/>
                <a:cs typeface="Arial"/>
              </a:rPr>
              <a:t>Register No.: 2025503042</a:t>
            </a:r>
          </a:p>
        </p:txBody>
      </p:sp>
    </p:spTree>
    <p:extLst>
      <p:ext uri="{BB962C8B-B14F-4D97-AF65-F5344CB8AC3E}">
        <p14:creationId xmlns:p14="http://schemas.microsoft.com/office/powerpoint/2010/main" val="2143145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2">
            <a:extLst xmlns:a="http://schemas.openxmlformats.org/drawingml/2006/main">
              <a:ext uri="{FF2B5EF4-FFF2-40B4-BE49-F238E27FC236}">
                <a16:creationId xmlns:a16="http://schemas.microsoft.com/office/drawing/2014/main" id="{9AB9FF5F-C3B2-4A4C-A4EF-111E2E5B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DC43FDF-475B-48C8-9DFA-4556AE8D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Discover, read and interact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841C0-2924-45AF-8BD0-4715B5D5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BA253-82C7-420E-BE7F-A4CD44F0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24D6A-DFBB-4310-8943-EE3E30E5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Discover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C5EBE-D367-4D3E-A3BC-D4B71366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Search by title, author or ISBN. Browse by subject and filter by availability.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A84F8-567D-4620-ACCE-967B2164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24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E8BD6-B270-4337-B8C7-A3F42FB3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5928D-1EDD-4EC4-864E-36867ACD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Review descriptions, publication details and copy status before a campus visit.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21A13-C9C6-4B8D-BDAE-920A23D4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C4FFC-19ED-4B8A-8008-D1869DFD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05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Interact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E5377-931B-4E1D-89AB-0CA5E3FA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Sign in, place a 24-hour hold and follow the listed location to pickup.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8300C-2B79-4729-A85B-A53333F8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43100"/>
            <a:ext cx="95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1BCAD-53F2-451F-88BA-2E6EA270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43100"/>
            <a:ext cx="95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296D0-B626-4977-914A-3BE86BC5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0030E-8AE6-4C84-9777-6FA1B968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3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3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3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3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3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3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3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3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3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3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One route from a search to a specific campus shelf.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75BB0-D08B-44D2-AB95-F7AE6F9E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DIGITAL COLLEGE LIBRARY / 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E7848-76DC-4CB9-9983-9954807A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2810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3">
            <a:extLst xmlns:a="http://schemas.openxmlformats.org/drawingml/2006/main">
              <a:ext uri="{FF2B5EF4-FFF2-40B4-BE49-F238E27FC236}">
                <a16:creationId xmlns:a16="http://schemas.microsoft.com/office/drawing/2014/main" id="{570DFB99-6E7D-4D0A-8C3D-BAF0419C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PROJECT STATEMENT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74DDCEA-BC36-4559-97AA-EFD2A616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44"/>
          </a:bodyPr>
          <a:lstStyle xmlns:a="http://schemas.openxmlformats.org/drawingml/2006/main">
            <a:defPPr algn="l"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A search should be easy to trust and easy to resume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05105-09B2-40D1-9F97-7A22D6FE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803D2-ABAC-45B0-BEC5-B7171AEA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Scattered information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D8A23-F298-48E2-B5AF-77F6D584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Book facts, stock status and location details can live in separate places.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097D5-8692-41E4-B8F0-9712446E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Inconsistent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4BA82-703B-487E-8977-2426083F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24175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Students need the same clear availability and pickup details at every step.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5D220-BF36-4A60-ACAE-5ECAE025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Difficult to revisit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5A665-35B4-42BB-BEC7-A4EE11A6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24175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A useful title should be easy to find again after the first search.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DF2E4-84F6-4E8D-9B9C-9D630FEC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95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E481B-735D-4CE6-925E-5968F7DA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57400"/>
            <a:ext cx="95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A9861-4860-4863-9F7C-36D19559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33DCA-BF46-4C0E-A040-523EF703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Project need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14D3D-187E-4FEA-B720-4F55AA45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42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17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17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17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17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17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17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17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17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17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17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One reliable catalog linking each title to an available copy and its campus location.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F5F9A-FC90-4A21-B3F6-86141980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DIGITAL COLLEGE LIBRARY / 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2DFD3-2B4E-411B-BDF3-9E961243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47222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4">
            <a:extLst xmlns:a="http://schemas.openxmlformats.org/drawingml/2006/main">
              <a:ext uri="{FF2B5EF4-FFF2-40B4-BE49-F238E27FC236}">
                <a16:creationId xmlns:a16="http://schemas.microsoft.com/office/drawing/2014/main" id="{6E94BB89-C376-494B-AD01-E3915D48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DCD1DF2-AEAC-4449-974A-FF5C1B5C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Make each step from search to pickup clear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65DD3-DBAE-4F34-B138-075B7087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15947-475A-4AA4-9901-D093BC38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881E8-64E3-4044-91B8-75EECE79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657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Find quickly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08DD6-2B29-4477-A4CD-5A98D859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859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Search by title, author or ISBN, then narrow the collection by subject.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79C5B-7AB4-4F61-B280-49F187F5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717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7AB87-121B-4513-9200-9E4F9A1F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67A29-AE94-48BA-9EE9-65F849FE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24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Check availability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6AFD2-354A-42BE-847B-B10075DC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527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See copy counts and availability before deciding where to go.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0FC05-D296-4B7E-B82C-A9F812F6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385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358B9-5198-45C2-898B-4C7B96DB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32E1B-93E0-45FC-BBDA-86867287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90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Locate the copy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209F0-4061-40C3-9296-41FC62FE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195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Show the library, floor, shelf and rack for the selected copy.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EF899-5967-46A7-A6F4-D09C5E9F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053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8507D-88EF-4C01-A6F5-35C52B9A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04FD3-0673-459E-BA1E-0F8C9DC5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57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Complete the hold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E5F76-7F82-4CEB-A100-85B74B1B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863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Let a signed-in student reserve one available copy for 24 hours.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4D5A0-B418-4800-BF6A-E912CB5F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72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A1269-4D81-4109-87A7-88127128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DIGITAL COLLEGE LIBRARY / 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0071E-3259-46D6-983D-84699235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7850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5">
            <a:extLst xmlns:a="http://schemas.openxmlformats.org/drawingml/2006/main">
              <a:ext uri="{FF2B5EF4-FFF2-40B4-BE49-F238E27FC236}">
                <a16:creationId xmlns:a16="http://schemas.microsoft.com/office/drawing/2014/main" id="{674B2986-8301-418A-81A3-B11031C7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MAIN FEATURES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89BD088-24D0-4DFB-91B7-80E013CD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A catalog built around the copy, not just the title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8B479-C2B6-4A67-A07F-E98B92B3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F6C9E-4CD2-4707-A1AF-D5D5B21D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Find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06CB7-E582-4108-B6CE-F7383E2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76400"/>
            <a:ext cx="5381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Search titles, authors and ISBNs; browse 11 subject areas.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78CD2-21BC-43E5-928F-7BCDE560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706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F2D2B-F745-411B-8402-1653C97D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Inspect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194D1-EFDF-45DF-9821-7AC0E19C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66975"/>
            <a:ext cx="5381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Read descriptions, publisher, year and ISBN details.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07A3B-9431-4862-8FAD-30B079B2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706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2D6D8-BA42-4176-8F7C-A3A889FB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Locate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0931F-A48C-473E-A3CF-8729EC2A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57550"/>
            <a:ext cx="5381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Check live copy counts and exact library, floor, shelf and rack.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A8166-2D2E-4FAB-AEB9-20FBDEEC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706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5B91D-4FE4-4197-BCAC-DE8DA932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Reserve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60F73-C24C-4B55-A710-C529E874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48125"/>
            <a:ext cx="5381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Sign in and hold a selected available copy for 24 hours.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FA990-BF22-4F95-B078-7D5B7D85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706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DE451-A846-4845-BCED-610286DA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Manage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8A74C-FFE7-4408-B34C-545EAD56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38700"/>
            <a:ext cx="5381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Librarians maintain books and copies; administrators manage roles.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59AF2-7836-4BCE-B71F-D14DF5B0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00675"/>
            <a:ext cx="706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2009D-4089-4760-A528-16622F8A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CAMPUS COLLECTION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48C088-3F9C-4C0A-94CB-4B49B3D561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b03514c51470b"/>
          <a:stretch xmlns:a="http://schemas.openxmlformats.org/drawingml/2006/main"/>
        </p:blipFill>
        <p:spPr>
          <a:xfrm xmlns:a="http://schemas.openxmlformats.org/drawingml/2006/main">
            <a:off x="8096250" y="2311400"/>
            <a:ext cx="1143000" cy="1511300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6E00B-8DA5-47B8-B654-800F12F702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09417214747b4"/>
          <a:stretch xmlns:a="http://schemas.openxmlformats.org/drawingml/2006/main"/>
        </p:blipFill>
        <p:spPr>
          <a:xfrm xmlns:a="http://schemas.openxmlformats.org/drawingml/2006/main">
            <a:off x="9334500" y="2416175"/>
            <a:ext cx="1143000" cy="1301750"/>
          </a:xfrm>
          <a:prstGeom xmlns:a="http://schemas.openxmlformats.org/drawingml/2006/main" prst="rect">
            <a:avLst/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4DF1D-49E1-40EF-BED3-337A137E89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75d32ded84ae0"/>
          <a:stretch xmlns:a="http://schemas.openxmlformats.org/drawingml/2006/main"/>
        </p:blipFill>
        <p:spPr>
          <a:xfrm xmlns:a="http://schemas.openxmlformats.org/drawingml/2006/main">
            <a:off x="10572750" y="2206625"/>
            <a:ext cx="1143000" cy="17208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426569-2CBA-4A9F-B07E-3E581F01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95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A sample of the subjects represented in the collection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5DAAC-B95A-44DC-835C-7F8394F4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DIGITAL COLLEGE LIBRARY / 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244F07-E728-4A2D-BF71-7AD55A75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979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6">
            <a:extLst xmlns:a="http://schemas.openxmlformats.org/drawingml/2006/main">
              <a:ext uri="{FF2B5EF4-FFF2-40B4-BE49-F238E27FC236}">
                <a16:creationId xmlns:a16="http://schemas.microsoft.com/office/drawing/2014/main" id="{EC40C963-B4A9-4A37-9018-39BCD107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TARGET USERS &amp; ROLES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8947936-0788-4472-A068-CCB11972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Three roles support one campus collection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E94FB-A380-4C4E-8AB2-FFD56321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2259D-3412-497B-8FAF-713E84CD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MEMBER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0570A-734A-4D8D-9664-9A508DCE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Student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AE82D-55D1-4CB1-9E98-8BEDB9E8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Search the catalog, review copy details, reserve a book and manage a personal profile.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781E5-FC93-4F0E-8F30-FD280CF3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COLLECTION STAFF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8E7C9-7F93-4012-9AD1-1B0A819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98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Librarian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9CBD6-15D5-430B-9708-3F216F48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Maintain titles, copy records and shelf locations; process checkouts and returns.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7CEC6-B914-4B87-B589-90ED8312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ACCESS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F0965-86D4-4C7D-8733-4E99093E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98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Administrator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3F607-43F5-43B4-8DAF-2948EDD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6230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Manage profiles, assign roles and control account access.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50D93-F950-4F46-83E8-76AEFBF8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95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14AF5-4C7E-423D-A938-FBD016C9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81200"/>
            <a:ext cx="95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ECEB1-2842-4B17-9052-E00F9843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7207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C4E25-E454-48C0-B077-FE162B93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80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80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80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80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80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80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80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80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80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80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Each role has a distinct task, from finding a book to maintaining access and inventory.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9C56ED-C9EC-4EA9-AD14-0B0DF96B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DIGITAL COLLEGE LIBRARY / 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CA5E4-D5A0-4E46-B391-77E5DE88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0253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7">
            <a:extLst xmlns:a="http://schemas.openxmlformats.org/drawingml/2006/main">
              <a:ext uri="{FF2B5EF4-FFF2-40B4-BE49-F238E27FC236}">
                <a16:creationId xmlns:a16="http://schemas.microsoft.com/office/drawing/2014/main" id="{56E0C202-4CB4-434D-8487-504B49E2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F0B15DF-2F76-4D1C-92E4-A13D09C8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What the public deployment confirms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7B3B9-D071-4F80-8E30-AA80B129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D7A45-38FF-4587-A632-85092008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Web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CB8BA-1A1E-4DAA-8C3C-EC677D16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859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Next.js site assets are served from the /_next/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58F1F-7759-4353-988C-6BDFAC97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A56FB-4026-4447-B154-31CE4434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Hosting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21C50-0DF7-4657-A6AD-873CA30B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622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The public application runs at digital-libarys.netlify.app on Netlify.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FCE28-4A3A-48D7-89EF-93B76447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54F5B-F43D-4AF8-A197-C486DB72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Catalog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7DA4D-9CC0-4619-AC11-9E024A66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A JSON endpoint at /api/books returns titles, categories and copy counts.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9937B-2E24-426C-968F-FAF6D7C3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C4E08-5A93-452B-9D5E-319F7595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Cover images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F0778-4763-4221-848C-43D82221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148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Book covers resolve through Open Library ISBN image URLs.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8C78A-700C-4035-8F1B-23AEAE4A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9EE73-CC3F-4D22-B1BC-115A9203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Not visible in the public deployment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75EF7-367E-4C81-B779-9C6A6CD0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721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The database engine and sign-in provider need source-code confirmation.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B3909-D7D1-4491-BF50-346E3CE9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DIGITAL COLLEGE LIBRARY / MIT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F1B29-8421-484E-9772-023E7000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83797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8">
            <a:extLst xmlns:a="http://schemas.openxmlformats.org/drawingml/2006/main">
              <a:ext uri="{FF2B5EF4-FFF2-40B4-BE49-F238E27FC236}">
                <a16:creationId xmlns:a16="http://schemas.microsoft.com/office/drawing/2014/main" id="{63C0241C-D03A-4375-9B83-70E90AF4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SYSTEM WORKFLOW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CEC2518-352F-460A-8686-8E54A0D9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From a search to a specific shelf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ED115-ED55-4F4B-897B-D5D8263F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2EEA1023-C377-4BB8-9077-8E989F77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621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9271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DD41E-721E-4109-A49C-EDB7B966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38375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34517-4434-4A2E-A581-22BD5D61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Browse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245C5-A50D-485E-BF37-5982F7E7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1666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Search by title, author, ISBN or subject.</a:t>
            </a:r>
          </a:p>
        </p:txBody>
      </p:sp>
      <p:sp>
        <p:nvSpPr>
          <p:cNvPr id="8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66BB7933-A427-4CCB-855D-CE969789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621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9271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D6609-F888-464F-9E96-15BD50F3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38375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27421-633B-4534-BBFF-FFD41A64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622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6A676-C3AC-4CB5-855A-91D9C4CA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267075"/>
            <a:ext cx="1666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Open details and compare copy status.</a:t>
            </a:r>
          </a:p>
        </p:txBody>
      </p:sp>
      <p:sp>
        <p:nvSpPr>
          <p:cNvPr id="12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9D405DA7-F6B7-47A9-9D72-2CEDD1B6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621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9271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02C1E-21FD-4BCB-B154-35E44BB7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38375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98FAD-91B0-4BE3-ADFA-E949614F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622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Choose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49796-1682-4E41-AC9D-28078573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67075"/>
            <a:ext cx="1666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Select an available copy.</a:t>
            </a:r>
          </a:p>
        </p:txBody>
      </p:sp>
      <p:sp>
        <p:nvSpPr>
          <p:cNvPr id="16" name="workflow-step-4">
            <a:extLst xmlns:a="http://schemas.openxmlformats.org/drawingml/2006/main">
              <a:ext uri="{FF2B5EF4-FFF2-40B4-BE49-F238E27FC236}">
                <a16:creationId xmlns:a16="http://schemas.microsoft.com/office/drawing/2014/main" id="{8F10D1E1-56A6-42A3-AF38-336E611F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621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9271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72E1E-860A-480B-95F7-23F919A9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38375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566A7-09E3-4DE7-B221-84E579D6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622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Hold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367BB-6233-4C51-A2D2-4E995C70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267075"/>
            <a:ext cx="1666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Sign in and reserve it for 24 hours.</a:t>
            </a:r>
          </a:p>
        </p:txBody>
      </p:sp>
      <p:sp>
        <p:nvSpPr>
          <p:cNvPr id="20" name="workflow-step-5">
            <a:extLst xmlns:a="http://schemas.openxmlformats.org/drawingml/2006/main">
              <a:ext uri="{FF2B5EF4-FFF2-40B4-BE49-F238E27FC236}">
                <a16:creationId xmlns:a16="http://schemas.microsoft.com/office/drawing/2014/main" id="{9CDB9A14-56AD-4463-A011-03971AC8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9621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927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9271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27C28-E3B1-4A5A-8DB9-E3970F62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622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Collect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975BDE-2202-4D39-BC4E-D1B7E8E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67075"/>
            <a:ext cx="1666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Go to the listed library, floor, shelf and rack.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74483-D3B2-46B4-9BB0-CF43A353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27D572-44E4-4156-A105-FF4B24B3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Librarians record checkouts and returns.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6DF920-999C-43B5-A3DF-A1BF8248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Administrators manage profiles, roles and access.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204BB-EA06-4A48-9D19-19CCC19A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DIGITAL COLLEGE LIBRARY / MIT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F66BF1-5AE0-482B-810C-5B260C3E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665151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9">
            <a:extLst xmlns:a="http://schemas.openxmlformats.org/drawingml/2006/main">
              <a:ext uri="{FF2B5EF4-FFF2-40B4-BE49-F238E27FC236}">
                <a16:creationId xmlns:a16="http://schemas.microsoft.com/office/drawing/2014/main" id="{FC542F8B-E883-477B-9203-C718C9D9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DATA &amp; STORAGE DESIGN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F932E63B-42C9-4FC3-93E2-7C10ECBA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The copy record connects a title to a shelf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A2F72-B13F-4263-8904-E015B694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5AE67-CCC8-4A25-BEB0-0F9968D5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CONCEPTUAL MODEL FROM PUBLIC FEATURES</a:t>
            </a:r>
          </a:p>
        </p:txBody>
      </p:sp>
      <p:sp>
        <p:nvSpPr>
          <p:cNvPr id="5" name="entity-category">
            <a:extLst xmlns:a="http://schemas.openxmlformats.org/drawingml/2006/main">
              <a:ext uri="{FF2B5EF4-FFF2-40B4-BE49-F238E27FC236}">
                <a16:creationId xmlns:a16="http://schemas.microsoft.com/office/drawing/2014/main" id="{418ED693-2E68-472A-8BB7-45896900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2095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13335">
            <a:solidFill>
              <a:srgbClr val="CEC7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B7BBE-791F-4AAE-917A-344EE03D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Category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CDCF8-DDFB-4EA8-988B-4B614CC9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1F15E-71D6-49A0-A2C9-001168D4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1790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category_id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name / subject</a:t>
            </a:r>
          </a:p>
        </p:txBody>
      </p:sp>
      <p:sp>
        <p:nvSpPr>
          <p:cNvPr id="9" name="entity-book">
            <a:extLst xmlns:a="http://schemas.openxmlformats.org/drawingml/2006/main">
              <a:ext uri="{FF2B5EF4-FFF2-40B4-BE49-F238E27FC236}">
                <a16:creationId xmlns:a16="http://schemas.microsoft.com/office/drawing/2014/main" id="{9F214FD5-E787-4EF1-9C35-DC89A9D5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24075"/>
            <a:ext cx="22860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13335">
            <a:solidFill>
              <a:srgbClr val="CEC7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295AB-4815-4349-98C2-38C92DBB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669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Book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EF009-16ED-456F-A7CC-1B2CCE49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76525"/>
            <a:ext cx="198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30728-92BE-4B55-B8F0-D5816452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9875"/>
            <a:ext cx="1981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book_id · ISBN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title · author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publisher · year</a:t>
            </a:r>
          </a:p>
        </p:txBody>
      </p:sp>
      <p:sp>
        <p:nvSpPr>
          <p:cNvPr id="13" name="entity-copy">
            <a:extLst xmlns:a="http://schemas.openxmlformats.org/drawingml/2006/main">
              <a:ext uri="{FF2B5EF4-FFF2-40B4-BE49-F238E27FC236}">
                <a16:creationId xmlns:a16="http://schemas.microsoft.com/office/drawing/2014/main" id="{E21063F8-DAB3-4F66-9D02-8A9DA4C2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24075"/>
            <a:ext cx="21907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13335">
            <a:solidFill>
              <a:srgbClr val="CEC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9965D-3BB9-4B1D-AA4B-06B3B690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669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Copy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3D134-AB21-4F07-8296-AD176B75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7652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D8667-5EC7-42B6-9D91-74CE7E75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9875"/>
            <a:ext cx="1885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copy_id · book_id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availability status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library · floor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shelf · rack</a:t>
            </a:r>
          </a:p>
        </p:txBody>
      </p:sp>
      <p:sp>
        <p:nvSpPr>
          <p:cNvPr id="17" name="entity-reservation">
            <a:extLst xmlns:a="http://schemas.openxmlformats.org/drawingml/2006/main">
              <a:ext uri="{FF2B5EF4-FFF2-40B4-BE49-F238E27FC236}">
                <a16:creationId xmlns:a16="http://schemas.microsoft.com/office/drawing/2014/main" id="{B1578965-DBA5-4461-A284-B52214F6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24075"/>
            <a:ext cx="2095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13335">
            <a:solidFill>
              <a:srgbClr val="CEC7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34EC9-8BAD-4E63-AFC0-D9A3C958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Reservation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179E2-618A-4C16-8763-787298A5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76525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993CD-6C0B-4AB4-AF62-25E656B2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09875"/>
            <a:ext cx="1790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reservation_id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user_id · copy_id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expires_at</a:t>
            </a:r>
          </a:p>
        </p:txBody>
      </p:sp>
      <p:sp>
        <p:nvSpPr>
          <p:cNvPr id="21" name="entity-user">
            <a:extLst xmlns:a="http://schemas.openxmlformats.org/drawingml/2006/main">
              <a:ext uri="{FF2B5EF4-FFF2-40B4-BE49-F238E27FC236}">
                <a16:creationId xmlns:a16="http://schemas.microsoft.com/office/drawing/2014/main" id="{D95AA3D4-3E76-401F-BA76-1E0ECFC4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13335">
            <a:solidFill>
              <a:srgbClr val="CEC7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AC514-DE8F-43A8-BBDF-22CE3EB0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19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User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CEA1C2-A3D4-42A2-AAF1-C81A3D84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29200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B9E57-3BA9-4E40-BC22-64CE20D9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1625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>
            <a:defPPr algn="l"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user_id · profile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00517-F097-4EC5-8E4F-BDB3D568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384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C7A41-814C-452A-B48F-7CDA9340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384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E81982-0D50-47EF-BCB2-2A4F857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384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72E221-2CE0-433A-AAAF-C0F19D5A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971925"/>
            <a:ext cx="190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C50279-AD8C-4982-84C9-B43731CA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A hold links one student to one specific copy. Availability totals summarize copy status.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10337A-9D2D-42FE-9B40-50541238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DIGITAL COLLEGE LIBRARY / MIT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643836-315E-4A90-B557-822899E1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608168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10">
            <a:extLst xmlns:a="http://schemas.openxmlformats.org/drawingml/2006/main">
              <a:ext uri="{FF2B5EF4-FFF2-40B4-BE49-F238E27FC236}">
                <a16:creationId xmlns:a16="http://schemas.microsoft.com/office/drawing/2014/main" id="{6EF5BA24-30E2-4A55-A6C9-81FD501B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BENEFITS &amp; IMPACT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C753AFB-314E-4115-A5EA-96B1A7A1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A live view of the collection reduces guesswork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0FEC2-DA99-45E0-B479-FCE5B034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D293A-257D-4B74-808F-634DAAA5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PUBLIC CATALOG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CC001-82A0-44CD-8695-47777B75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BEC9A-980F-4724-ABDC-FE724B17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titles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3C958-A8C2-4100-95B9-5948F9EB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994BC-5C0D-4C27-A1EF-A321F0F2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copies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C4075-62F2-437D-9D88-AE55E941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71FCD-AFE7-4FD4-85C1-91CA582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available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DD043-2BB2-4B47-927F-ED8999E5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383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4350" b="0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58444-52AC-4EB1-9BD0-2AF50838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subject 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BD164-1780-4ADB-BC41-EBBD4513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654A7-A4C7-4800-BE5C-A588E637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Students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BADE8-8C5F-47C6-ADCB-4E5FD577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Check whether a copy is available and where to find it before crossing campus.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503E7-E71B-4782-AB10-1B855FAE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Library team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1DCBA-0B7F-48F7-B2FF-C3616E2A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5292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Work from clear title, copy, location and circulation records.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ADAD7-B077-45AA-93C8-70A31B80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57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Campus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007D4-9AEA-4352-B1F7-E3F276E7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5292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See a broader mix of academic and general reading in one catalog.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6C984-0C06-4F26-AC3F-9E9D5DF0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48100"/>
            <a:ext cx="95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FF6AE-5D95-461E-BEF3-A00E35E5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48100"/>
            <a:ext cx="95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141E4-2C3E-4F13-BB9A-8804BE3F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Counts are a public API snapshot and may change as copies are reserved, borrowed or returned.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EEEF8-CBF6-46A2-BEFE-AE51B7AF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DIGITAL COLLEGE LIBRARY / MIT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FEDB4-62AC-489B-8361-6364489B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79394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11">
            <a:extLst xmlns:a="http://schemas.openxmlformats.org/drawingml/2006/main">
              <a:ext uri="{FF2B5EF4-FFF2-40B4-BE49-F238E27FC236}">
                <a16:creationId xmlns:a16="http://schemas.microsoft.com/office/drawing/2014/main" id="{0664197E-7756-41E6-87FC-25180B68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LIMITATIONS &amp; FUTURE SCOPE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B6D08BCD-0002-49CB-94F8-A5CC841D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What is visible now, and what to build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9AE09-337B-4631-B19F-5C8BB097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960A8-CB4B-41A9-ABD7-1F472303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PUBLIC SITE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31822-D997-4383-944A-2A1B2583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7D795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D795F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EC266-1012-44FD-886B-9CC11538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02531-89D3-4F9E-A193-71B47E6C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The database and sign-in provider are not identified in the public deployment.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56159-3751-4FBF-A25D-B639BE89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3354B-C380-4919-85D1-0A29B01F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147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The public catalog endpoint exposes book-level records and copy counts; private user and circulation records are not public.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D261E-5327-4AC7-A9CF-40D96971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52BD5-3FC7-4D4E-AFEF-7F089298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The visible product supports physical campus lending. No in-browser ebook reader is shown.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8840B-0067-48D9-B6CB-D27348C8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54EE0-5B7C-4AD5-8CD9-04BE178D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455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Confirm the backend, authentication and storage design from the source repository.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5B9C4-B753-475D-B1C5-E4335A89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4500C-60F4-402D-90D4-190FA7F8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455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Add borrowing history, renewals and due-date or hold-expiry reminders.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5C148-2F65-4518-80DF-F3EAB16E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86A4C-01D2-4C18-B3B5-987095FD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86200"/>
            <a:ext cx="455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Extend staff reporting, inventory tools and bulk catalog import.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5B836-1F53-4880-862C-C499ECF9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4684C-0D9C-42F0-890E-80FC9366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05350"/>
            <a:ext cx="455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Review privacy, access control and accessibility as the collection grows.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323C3-A0DF-4218-8DD0-7BF6D375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240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CAEE73-F515-4F0B-9149-57A6376E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7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7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7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7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7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7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7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7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7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725" b="0" i="0">
                <a:solidFill>
                  <a:srgbClr val="28251F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28251F"/>
                </a:solidFill>
                <a:latin typeface="Georgia"/>
                <a:ea typeface="Georgia"/>
                <a:cs typeface="Georgia"/>
              </a:rPr>
              <a:t>Project scope: reliable discovery and pickup for the campus print collection.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694C0-F60C-4B22-99E1-2C534184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DIGITAL COLLEGE LIBRARY / 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230B3-A665-44F5-9831-46A5734D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050" b="0" i="0">
                <a:solidFill>
                  <a:srgbClr val="6D685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D685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97346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92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hank-you-title">
            <a:extLst xmlns:a="http://schemas.openxmlformats.org/drawingml/2006/main">
              <a:ext uri="{FF2B5EF4-FFF2-40B4-BE49-F238E27FC236}">
                <a16:creationId xmlns:a16="http://schemas.microsoft.com/office/drawing/2014/main" id="{05AF5A00-D5D5-44F5-A825-563603DD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66875"/>
            <a:ext cx="1219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5850" b="1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5850" b="1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5850" b="1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5850" b="1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5850" b="1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5850" b="1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5850" b="1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5850" b="1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5850" b="1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5850" b="1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5850" b="1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pPr>
            <a:r>
              <a:rPr sz="5850" b="1">
                <a:solidFill>
                  <a:srgbClr val="F8F4EA"/>
                </a:solidFill>
                <a:latin typeface="Georgia"/>
                <a:ea typeface="Georgia"/>
                <a:cs typeface="Georgia"/>
              </a:rPr>
              <a:t>Thank you</a:t>
            </a:r>
          </a:p>
        </p:txBody>
      </p:sp>
      <p:sp>
        <p:nvSpPr>
          <p:cNvPr id="3" name="thank-you-project-name">
            <a:extLst xmlns:a="http://schemas.openxmlformats.org/drawingml/2006/main">
              <a:ext uri="{FF2B5EF4-FFF2-40B4-BE49-F238E27FC236}">
                <a16:creationId xmlns:a16="http://schemas.microsoft.com/office/drawing/2014/main" id="{BA3AB6DC-8B3C-4CD2-820C-8482D27A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43250"/>
            <a:ext cx="1219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550" b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550" b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550" b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550" b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550" b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550" b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550" b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550" b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550" b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2550" b="0">
                <a:solidFill>
                  <a:srgbClr val="F8F4EA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8F4EA"/>
                </a:solidFill>
                <a:latin typeface="Georgia"/>
                <a:ea typeface="Georgia"/>
                <a:cs typeface="Georgia"/>
              </a:rPr>
              <a:t>Digital College Library (MIT)</a:t>
            </a:r>
          </a:p>
        </p:txBody>
      </p:sp>
      <p:sp>
        <p:nvSpPr>
          <p:cNvPr id="4" name="thank-you-presenter">
            <a:extLst xmlns:a="http://schemas.openxmlformats.org/drawingml/2006/main">
              <a:ext uri="{FF2B5EF4-FFF2-40B4-BE49-F238E27FC236}">
                <a16:creationId xmlns:a16="http://schemas.microsoft.com/office/drawing/2014/main" id="{15EBD8D5-E72D-4CBB-88FE-0BEE78D1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8F4EA"/>
                </a:solidFill>
                <a:latin typeface="Arial"/>
                <a:ea typeface="Arial"/>
                <a:cs typeface="Arial"/>
              </a:rPr>
              <a:t>Presented by K. Ramya</a:t>
            </a:r>
          </a:p>
        </p:txBody>
      </p:sp>
      <p:sp>
        <p:nvSpPr>
          <p:cNvPr id="5" name="thank-you-register-number">
            <a:extLst xmlns:a="http://schemas.openxmlformats.org/drawingml/2006/main">
              <a:ext uri="{FF2B5EF4-FFF2-40B4-BE49-F238E27FC236}">
                <a16:creationId xmlns:a16="http://schemas.microsoft.com/office/drawing/2014/main" id="{C57126C2-1881-4FF5-BE06-380F3E84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10075"/>
            <a:ext cx="1219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E4D19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4D19B"/>
                </a:solidFill>
                <a:latin typeface="Arial"/>
                <a:ea typeface="Arial"/>
                <a:cs typeface="Arial"/>
              </a:rPr>
              <a:t>Register No.: 2025503042</a:t>
            </a:r>
          </a:p>
        </p:txBody>
      </p:sp>
      <p:sp>
        <p:nvSpPr>
          <p:cNvPr id="6" name="thank-you-tagline">
            <a:extLst xmlns:a="http://schemas.openxmlformats.org/drawingml/2006/main">
              <a:ext uri="{FF2B5EF4-FFF2-40B4-BE49-F238E27FC236}">
                <a16:creationId xmlns:a16="http://schemas.microsoft.com/office/drawing/2014/main" id="{F39D0149-A961-4BB2-BBBE-A6F62A18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5875"/>
            <a:ext cx="1219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E4D19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E4D19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E4D19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E4D19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E4D19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E4D19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E4D19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E4D19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E4D19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E4D1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E4D1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D19B"/>
                </a:solidFill>
                <a:latin typeface="Arial"/>
                <a:ea typeface="Arial"/>
                <a:cs typeface="Arial"/>
              </a:rPr>
              <a:t>DISCOVER / READ / INTERACT</a:t>
            </a:r>
          </a:p>
        </p:txBody>
      </p:sp>
      <p:sp>
        <p:nvSpPr>
          <p:cNvPr id="7" name="thank-you-gold-rule">
            <a:extLst xmlns:a="http://schemas.openxmlformats.org/drawingml/2006/main">
              <a:ext uri="{FF2B5EF4-FFF2-40B4-BE49-F238E27FC236}">
                <a16:creationId xmlns:a16="http://schemas.microsoft.com/office/drawing/2014/main" id="{7153C744-046E-45EC-9F4B-9D0A4167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5785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hank-you-project-url">
            <a:extLst xmlns:a="http://schemas.openxmlformats.org/drawingml/2006/main">
              <a:ext uri="{FF2B5EF4-FFF2-40B4-BE49-F238E27FC236}">
                <a16:creationId xmlns:a16="http://schemas.microsoft.com/office/drawing/2014/main" id="{F54803F4-C720-4325-8E2F-9DE09BFB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4EA"/>
                </a:solidFill>
                <a:latin typeface="Arial"/>
                <a:ea typeface="Arial"/>
                <a:cs typeface="Arial"/>
              </a:rPr>
              <a:t>digital-libarys.netlify.app</a:t>
            </a:r>
          </a:p>
        </p:txBody>
      </p:sp>
      <p:sp>
        <p:nvSpPr>
          <p:cNvPr id="10" name="thank-you-title-rule">
            <a:extLst xmlns:a="http://schemas.openxmlformats.org/drawingml/2006/main">
              <a:ext uri="{FF2B5EF4-FFF2-40B4-BE49-F238E27FC236}">
                <a16:creationId xmlns:a16="http://schemas.microsoft.com/office/drawing/2014/main" id="{9F1022FB-8AF4-414D-B705-3139837F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384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5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5229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2026-10-27T03:47:25.9390000Z</dcterms:created>
  <dcterms:modified xsi:type="dcterms:W3CDTF">2026-10-27T03:47:25.9390000Z</dcterms:modified>
</coreProperties>
</file>